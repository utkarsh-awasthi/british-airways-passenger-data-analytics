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35"/>
  </p:normalViewPr>
  <p:slideViewPr>
    <p:cSldViewPr snapToGrid="0">
      <p:cViewPr varScale="1">
        <p:scale>
          <a:sx n="115" d="100"/>
          <a:sy n="115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821B-B146-38A9-644C-A4C117BED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21AE4-B047-4FAA-D939-294C7FD31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9FF2A-43E8-BDDE-2838-E72D8DFC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9F962-1440-8A96-3963-85FED45B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1B65-1102-FE8D-4E1C-995B30D6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73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D5E2-93E8-1C93-60D7-C6587136B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6DEE-4178-4B18-6693-AF08BB4F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7226D-7E6D-6E2D-6D0A-508CDAF5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631F2-2D89-44D7-E422-328D701B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03712-1DB1-E416-EDD5-5C030A34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5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8171-8384-4D3F-3D21-006D7E80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7DF31-F2B9-EEAF-4978-09BAC75C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36261-ADEB-C038-EB84-704E0508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135BF-14F4-02FA-C8B5-AE66F004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0EBCF-C556-BEA6-C350-DB27211B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6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5E71-140F-C4C6-F663-EC2B64C0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D1C6-DBA5-8D1D-6082-29DCC6B38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FFAD0-D95E-1355-EEE3-1161CC28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A65EC-F606-61FA-C541-A0E3D72B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208AD-6892-571A-D315-BD90FEC2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F4620-A51B-5DF4-4498-F98E124D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3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8AAF-7FCF-C9F5-2A1E-83840F0B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58675-A9C4-F51C-5D2C-93128647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5CE50-4C35-EF17-05A4-276F2504B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E9711-68ED-7C8D-232D-B81CFC32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D68A7-25CC-484D-B2A0-C7AA02D3B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561F5-8879-9F01-76C1-8E25456F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6E94C-0348-6D8A-7A82-F16F5CAD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09808-577E-D504-9BC0-02180B96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F488-0F9B-1F0A-115C-D729D735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E5981-BD9C-5773-4554-5808922E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27018-6DAE-078E-6C98-2DFCD7B0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FC47F-37BB-E9F8-3836-EC5EAC34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4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2A7A4-D349-DB66-6084-BF407772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F034B-1822-AA46-655A-753FAFA5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B7937-AC0C-F3D3-775C-3BA1BBAC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7D5C-FD33-F3E5-8BFC-18ECDC26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46E5-4955-5D79-12B6-064BB00C6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95E7E-83DD-6325-9F5F-4410D6415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82AAD-2AC6-4558-08D7-89FD4C83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DA1E-A17F-1124-2CE0-E9F35EAD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2375-6B11-86B4-8EAD-8002071D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02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57F1D-C7EC-0362-5CF6-5B0E80EFD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A23AF-77F8-C451-AF81-5FB5A88D4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FA789-E666-224A-A7D1-F8308C19D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D048F-7D90-0C5C-64D4-2D80643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0C6A8-C567-EEC3-BCDD-16CEA3E1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51F3E-60FA-9330-8642-C2C78EE1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3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767C-13D7-C6C1-D5C1-84F36878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B0AFE-7EF3-759A-CFFF-7D0BCA46E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6834-9954-3BB3-A4AB-8BE0C979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67A9D-FA5B-BBF2-3221-FB3E12D6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770A2-C4E5-34D0-9E22-D8BEA37E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5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252DD-5804-7071-C29A-1E9E0A5D2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ED3BC-0083-866A-B18E-EEF948D7B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7A10-36DB-7ED9-AA44-4D473DB63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6430B-CEE6-4791-5600-A422EEB0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48CB-AB08-DCFA-364F-A679BB73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1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01452-8AF9-A083-C95D-221A7F31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E48E-1E3C-8C43-22F4-A960CD3FA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D5A01-C019-D347-C72B-6C5EE20A0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C750B-39A7-914E-A82D-C89A88431FD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DBCF1-F494-2440-F650-20BCB712E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3A66C-3B7B-9E71-B08E-B5D7B8051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CE2F2-0B19-3240-B7AB-23E534F28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0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7" name="Content Placeholder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2B1B693-CF07-486A-CADB-383D2A4B3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6941" y="601204"/>
            <a:ext cx="6636015" cy="352237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D3806-0547-A25E-9283-0D01765EA022}"/>
              </a:ext>
            </a:extLst>
          </p:cNvPr>
          <p:cNvSpPr txBox="1"/>
          <p:nvPr/>
        </p:nvSpPr>
        <p:spPr>
          <a:xfrm>
            <a:off x="640080" y="195518"/>
            <a:ext cx="10346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			British Airways Booking Prediction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45A1C05-11F0-24A8-6939-635DF4871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212129"/>
              </p:ext>
            </p:extLst>
          </p:nvPr>
        </p:nvGraphicFramePr>
        <p:xfrm>
          <a:off x="56941" y="3906827"/>
          <a:ext cx="5918259" cy="2624199"/>
        </p:xfrm>
        <a:graphic>
          <a:graphicData uri="http://schemas.openxmlformats.org/drawingml/2006/table">
            <a:tbl>
              <a:tblPr/>
              <a:tblGrid>
                <a:gridCol w="2595038">
                  <a:extLst>
                    <a:ext uri="{9D8B030D-6E8A-4147-A177-3AD203B41FA5}">
                      <a16:colId xmlns:a16="http://schemas.microsoft.com/office/drawing/2014/main" val="2555224808"/>
                    </a:ext>
                  </a:extLst>
                </a:gridCol>
                <a:gridCol w="3323221">
                  <a:extLst>
                    <a:ext uri="{9D8B030D-6E8A-4147-A177-3AD203B41FA5}">
                      <a16:colId xmlns:a16="http://schemas.microsoft.com/office/drawing/2014/main" val="2490788468"/>
                    </a:ext>
                  </a:extLst>
                </a:gridCol>
              </a:tblGrid>
              <a:tr h="235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Category</a:t>
                      </a:r>
                      <a:endParaRPr lang="en-IN" sz="1300" dirty="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Metric/Description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268772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Model Performance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AUC-ROC: 0.87 | CV: 0.86±0.03 | Recall: 0.82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625701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Feature #1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Purchase Lead Time (23% importance)</a:t>
                      </a:r>
                      <a:endParaRPr lang="en-IN" sz="1300" dirty="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008132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Feature #2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Route Selection (19% importance)</a:t>
                      </a:r>
                      <a:endParaRPr lang="en-IN" sz="1300" dirty="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110659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Top Feature #3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Trip Complexity (14% importance)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222415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Business Impact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20% </a:t>
                      </a: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Lucida Grande" panose="020B0600040502020204" pitchFamily="34" charset="0"/>
                        </a:rPr>
                        <a:t>↑</a:t>
                      </a: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conversions | 15% </a:t>
                      </a: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Lucida Grande" panose="020B0600040502020204" pitchFamily="34" charset="0"/>
                        </a:rPr>
                        <a:t>↓</a:t>
                      </a:r>
                      <a:r>
                        <a:rPr lang="en-IN" sz="13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marketing waste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80828"/>
                  </a:ext>
                </a:extLst>
              </a:tr>
              <a:tr h="33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Deployment Status</a:t>
                      </a:r>
                      <a:endParaRPr lang="en-IN" sz="130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Production-ready - all features available at booking time</a:t>
                      </a:r>
                      <a:endParaRPr lang="en-IN" sz="1300" dirty="0">
                        <a:effectLst/>
                      </a:endParaRPr>
                    </a:p>
                  </a:txBody>
                  <a:tcPr marL="27540" marR="27540" marT="27540" marB="27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75465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CF9203B-9507-F628-3AEE-BB24FCF1C057}"/>
              </a:ext>
            </a:extLst>
          </p:cNvPr>
          <p:cNvSpPr txBox="1"/>
          <p:nvPr/>
        </p:nvSpPr>
        <p:spPr>
          <a:xfrm>
            <a:off x="8352263" y="4123579"/>
            <a:ext cx="37264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KEY BUSINESS INSIGHTS</a:t>
            </a:r>
          </a:p>
          <a:p>
            <a:endParaRPr lang="en-IN" sz="1400" dirty="0"/>
          </a:p>
          <a:p>
            <a:pPr marL="285750" indent="-285750">
              <a:buFont typeface="Wingdings" pitchFamily="2" charset="2"/>
              <a:buChar char="v"/>
            </a:pPr>
            <a:r>
              <a:rPr lang="en-IN" sz="1400" dirty="0"/>
              <a:t>  Early Bookers Convert into target customers booking 90+ days in advance with special incentives .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IN" sz="1400" dirty="0"/>
              <a:t>Route Matters Focus marketing budget on high-conversion destinations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IN" sz="1400" dirty="0"/>
              <a:t> Premium = Intent Customers requesting extras are 2.5× more likely to complete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IN" sz="1400" dirty="0"/>
              <a:t> Trip Complexity Larger groups with longer stays show higher commitment signals</a:t>
            </a:r>
            <a:endParaRPr lang="en-US" sz="14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F71D219-0024-7405-9EE1-A565B9C6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43016"/>
              </p:ext>
            </p:extLst>
          </p:nvPr>
        </p:nvGraphicFramePr>
        <p:xfrm>
          <a:off x="56941" y="633987"/>
          <a:ext cx="5058203" cy="2764003"/>
        </p:xfrm>
        <a:graphic>
          <a:graphicData uri="http://schemas.openxmlformats.org/drawingml/2006/table">
            <a:tbl>
              <a:tblPr/>
              <a:tblGrid>
                <a:gridCol w="478318">
                  <a:extLst>
                    <a:ext uri="{9D8B030D-6E8A-4147-A177-3AD203B41FA5}">
                      <a16:colId xmlns:a16="http://schemas.microsoft.com/office/drawing/2014/main" val="1924974945"/>
                    </a:ext>
                  </a:extLst>
                </a:gridCol>
                <a:gridCol w="1070517">
                  <a:extLst>
                    <a:ext uri="{9D8B030D-6E8A-4147-A177-3AD203B41FA5}">
                      <a16:colId xmlns:a16="http://schemas.microsoft.com/office/drawing/2014/main" val="4258621725"/>
                    </a:ext>
                  </a:extLst>
                </a:gridCol>
                <a:gridCol w="546409">
                  <a:extLst>
                    <a:ext uri="{9D8B030D-6E8A-4147-A177-3AD203B41FA5}">
                      <a16:colId xmlns:a16="http://schemas.microsoft.com/office/drawing/2014/main" val="3521339593"/>
                    </a:ext>
                  </a:extLst>
                </a:gridCol>
                <a:gridCol w="2962959">
                  <a:extLst>
                    <a:ext uri="{9D8B030D-6E8A-4147-A177-3AD203B41FA5}">
                      <a16:colId xmlns:a16="http://schemas.microsoft.com/office/drawing/2014/main" val="3129224001"/>
                    </a:ext>
                  </a:extLst>
                </a:gridCol>
              </a:tblGrid>
              <a:tr h="448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Rank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Feature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Importance (%)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Business Interpretation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90791"/>
                  </a:ext>
                </a:extLst>
              </a:tr>
              <a:tr h="238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Purchase Lead Time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23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Early planners more likely to complete</a:t>
                      </a:r>
                      <a:endParaRPr lang="en-IN" sz="1200" dirty="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429165"/>
                  </a:ext>
                </a:extLst>
              </a:tr>
              <a:tr h="238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Route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19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Certain destinations drive higher conversions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840296"/>
                  </a:ext>
                </a:extLst>
              </a:tr>
              <a:tr h="343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Trip Complexity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14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Passenger count × stay length interaction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977403"/>
                  </a:ext>
                </a:extLst>
              </a:tr>
              <a:tr h="238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Length of Stay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12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Extended trips indicate stronger commitment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462912"/>
                  </a:ext>
                </a:extLst>
              </a:tr>
              <a:tr h="496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5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Premium Score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10</a:t>
                      </a:r>
                      <a:endParaRPr lang="en-IN" sz="120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Customers wanting extras signal higher intent</a:t>
                      </a:r>
                      <a:endParaRPr lang="en-IN" sz="1200" dirty="0">
                        <a:effectLst/>
                      </a:endParaRPr>
                    </a:p>
                  </a:txBody>
                  <a:tcPr marL="25536" marR="25536" marT="25536" marB="2553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52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01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189</Words>
  <Application>Microsoft Macintosh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Helvetica Neue</vt:lpstr>
      <vt:lpstr>Lucida Grande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Awasthi</dc:creator>
  <cp:lastModifiedBy>Utkarsh Awasthi</cp:lastModifiedBy>
  <cp:revision>3</cp:revision>
  <dcterms:created xsi:type="dcterms:W3CDTF">2026-02-06T22:34:19Z</dcterms:created>
  <dcterms:modified xsi:type="dcterms:W3CDTF">2026-02-11T14:13:20Z</dcterms:modified>
</cp:coreProperties>
</file>